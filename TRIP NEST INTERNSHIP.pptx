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1"/>
  </p:notesMasterIdLst>
  <p:sldIdLst>
    <p:sldId id="256" r:id="rId2"/>
    <p:sldId id="257" r:id="rId3"/>
    <p:sldId id="258" r:id="rId4"/>
    <p:sldId id="259" r:id="rId5"/>
    <p:sldId id="261" r:id="rId6"/>
    <p:sldId id="263" r:id="rId7"/>
    <p:sldId id="264"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AFCEB4-6AC3-485E-9A7A-4A1BF8873664}"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429957-4585-48CE-8F57-2B155EF28836}" type="slidenum">
              <a:rPr lang="en-IN" smtClean="0"/>
              <a:t>‹#›</a:t>
            </a:fld>
            <a:endParaRPr lang="en-IN"/>
          </a:p>
        </p:txBody>
      </p:sp>
    </p:spTree>
    <p:extLst>
      <p:ext uri="{BB962C8B-B14F-4D97-AF65-F5344CB8AC3E}">
        <p14:creationId xmlns:p14="http://schemas.microsoft.com/office/powerpoint/2010/main" val="3601899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429957-4585-48CE-8F57-2B155EF28836}" type="slidenum">
              <a:rPr lang="en-IN" smtClean="0"/>
              <a:t>9</a:t>
            </a:fld>
            <a:endParaRPr lang="en-IN"/>
          </a:p>
        </p:txBody>
      </p:sp>
    </p:spTree>
    <p:extLst>
      <p:ext uri="{BB962C8B-B14F-4D97-AF65-F5344CB8AC3E}">
        <p14:creationId xmlns:p14="http://schemas.microsoft.com/office/powerpoint/2010/main" val="32072709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85BA7A48-E97E-4AD6-92B7-6B93FCD0605A}"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8145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spTree>
    <p:extLst>
      <p:ext uri="{BB962C8B-B14F-4D97-AF65-F5344CB8AC3E}">
        <p14:creationId xmlns:p14="http://schemas.microsoft.com/office/powerpoint/2010/main" val="661851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725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887F18-4E36-4DA2-86EF-52AFABE8F097}"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BA7A48-E97E-4AD6-92B7-6B93FCD0605A}" type="slidenum">
              <a:rPr lang="en-IN" smtClean="0"/>
              <a:t>‹#›</a:t>
            </a:fld>
            <a:endParaRPr lang="en-IN"/>
          </a:p>
        </p:txBody>
      </p:sp>
    </p:spTree>
    <p:extLst>
      <p:ext uri="{BB962C8B-B14F-4D97-AF65-F5344CB8AC3E}">
        <p14:creationId xmlns:p14="http://schemas.microsoft.com/office/powerpoint/2010/main" val="3041858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887F18-4E36-4DA2-86EF-52AFABE8F097}" type="datetimeFigureOut">
              <a:rPr lang="en-IN" smtClean="0"/>
              <a:t>13-11-2025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BA7A48-E97E-4AD6-92B7-6B93FCD0605A}"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023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887F18-4E36-4DA2-86EF-52AFABE8F097}" type="datetimeFigureOut">
              <a:rPr lang="en-IN" smtClean="0"/>
              <a:t>13-11-2025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BA7A48-E97E-4AD6-92B7-6B93FCD0605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1665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887F18-4E36-4DA2-86EF-52AFABE8F097}" type="datetimeFigureOut">
              <a:rPr lang="en-IN" smtClean="0"/>
              <a:t>13-11-2025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BA7A48-E97E-4AD6-92B7-6B93FCD0605A}" type="slidenum">
              <a:rPr lang="en-IN" smtClean="0"/>
              <a:t>‹#›</a:t>
            </a:fld>
            <a:endParaRPr lang="en-IN"/>
          </a:p>
        </p:txBody>
      </p:sp>
    </p:spTree>
    <p:extLst>
      <p:ext uri="{BB962C8B-B14F-4D97-AF65-F5344CB8AC3E}">
        <p14:creationId xmlns:p14="http://schemas.microsoft.com/office/powerpoint/2010/main" val="2605708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887F18-4E36-4DA2-86EF-52AFABE8F097}"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BA7A48-E97E-4AD6-92B7-6B93FCD0605A}"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067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887F18-4E36-4DA2-86EF-52AFABE8F097}"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BA7A48-E97E-4AD6-92B7-6B93FCD0605A}" type="slidenum">
              <a:rPr lang="en-IN" smtClean="0"/>
              <a:t>‹#›</a:t>
            </a:fld>
            <a:endParaRPr lang="en-IN"/>
          </a:p>
        </p:txBody>
      </p:sp>
    </p:spTree>
    <p:extLst>
      <p:ext uri="{BB962C8B-B14F-4D97-AF65-F5344CB8AC3E}">
        <p14:creationId xmlns:p14="http://schemas.microsoft.com/office/powerpoint/2010/main" val="1315538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887F18-4E36-4DA2-86EF-52AFABE8F097}" type="datetimeFigureOut">
              <a:rPr lang="en-IN" smtClean="0"/>
              <a:t>13-11-2025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BA7A48-E97E-4AD6-92B7-6B93FCD0605A}" type="slidenum">
              <a:rPr lang="en-IN" smtClean="0"/>
              <a:t>‹#›</a:t>
            </a:fld>
            <a:endParaRPr lang="en-IN"/>
          </a:p>
        </p:txBody>
      </p:sp>
    </p:spTree>
    <p:extLst>
      <p:ext uri="{BB962C8B-B14F-4D97-AF65-F5344CB8AC3E}">
        <p14:creationId xmlns:p14="http://schemas.microsoft.com/office/powerpoint/2010/main" val="2966275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520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1918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spTree>
    <p:extLst>
      <p:ext uri="{BB962C8B-B14F-4D97-AF65-F5344CB8AC3E}">
        <p14:creationId xmlns:p14="http://schemas.microsoft.com/office/powerpoint/2010/main" val="2998629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9130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1905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10280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887F18-4E36-4DA2-86EF-52AFABE8F097}" type="datetimeFigureOut">
              <a:rPr lang="en-IN" smtClean="0"/>
              <a:t>13-11-2025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BA7A48-E97E-4AD6-92B7-6B93FCD0605A}"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3154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5887F18-4E36-4DA2-86EF-52AFABE8F097}" type="datetimeFigureOut">
              <a:rPr lang="en-IN" smtClean="0"/>
              <a:t>13-11-2025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5BA7A48-E97E-4AD6-92B7-6B93FCD0605A}" type="slidenum">
              <a:rPr lang="en-IN" smtClean="0"/>
              <a:t>‹#›</a:t>
            </a:fld>
            <a:endParaRPr lang="en-IN"/>
          </a:p>
        </p:txBody>
      </p:sp>
    </p:spTree>
    <p:extLst>
      <p:ext uri="{BB962C8B-B14F-4D97-AF65-F5344CB8AC3E}">
        <p14:creationId xmlns:p14="http://schemas.microsoft.com/office/powerpoint/2010/main" val="224232008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0B06-0582-D43C-F94B-A99950D046B2}"/>
              </a:ext>
            </a:extLst>
          </p:cNvPr>
          <p:cNvSpPr>
            <a:spLocks noGrp="1"/>
          </p:cNvSpPr>
          <p:nvPr>
            <p:ph type="ctrTitle"/>
          </p:nvPr>
        </p:nvSpPr>
        <p:spPr/>
        <p:txBody>
          <a:bodyPr/>
          <a:lstStyle/>
          <a:p>
            <a:r>
              <a:rPr lang="en-IN" dirty="0">
                <a:latin typeface="Algerian" panose="04020705040A02060702" pitchFamily="82" charset="0"/>
              </a:rPr>
              <a:t>  TRIP NEST</a:t>
            </a:r>
          </a:p>
        </p:txBody>
      </p:sp>
      <p:sp>
        <p:nvSpPr>
          <p:cNvPr id="3" name="Subtitle 2">
            <a:extLst>
              <a:ext uri="{FF2B5EF4-FFF2-40B4-BE49-F238E27FC236}">
                <a16:creationId xmlns:a16="http://schemas.microsoft.com/office/drawing/2014/main" id="{BD38796D-6F07-E696-A361-E9509196BD7A}"/>
              </a:ext>
            </a:extLst>
          </p:cNvPr>
          <p:cNvSpPr>
            <a:spLocks noGrp="1"/>
          </p:cNvSpPr>
          <p:nvPr>
            <p:ph type="subTitle" idx="1"/>
          </p:nvPr>
        </p:nvSpPr>
        <p:spPr>
          <a:xfrm>
            <a:off x="6962862" y="3657597"/>
            <a:ext cx="2545205" cy="897625"/>
          </a:xfrm>
        </p:spPr>
        <p:txBody>
          <a:bodyPr>
            <a:normAutofit fontScale="62500" lnSpcReduction="20000"/>
          </a:bodyPr>
          <a:lstStyle/>
          <a:p>
            <a:r>
              <a:rPr lang="en-IN" dirty="0"/>
              <a:t>                                                                                                                 </a:t>
            </a:r>
            <a:r>
              <a:rPr lang="en-IN" dirty="0">
                <a:latin typeface="Times New Roman" panose="02020603050405020304" pitchFamily="18" charset="0"/>
                <a:cs typeface="Times New Roman" panose="02020603050405020304" pitchFamily="18" charset="0"/>
              </a:rPr>
              <a:t>YASHASWINI N.M</a:t>
            </a:r>
          </a:p>
          <a:p>
            <a:r>
              <a:rPr lang="en-IN" dirty="0">
                <a:latin typeface="Times New Roman" panose="02020603050405020304" pitchFamily="18" charset="0"/>
                <a:cs typeface="Times New Roman" panose="02020603050405020304" pitchFamily="18" charset="0"/>
              </a:rPr>
              <a:t>                                                                                                 24SUPMCAGL104</a:t>
            </a:r>
          </a:p>
        </p:txBody>
      </p:sp>
    </p:spTree>
    <p:extLst>
      <p:ext uri="{BB962C8B-B14F-4D97-AF65-F5344CB8AC3E}">
        <p14:creationId xmlns:p14="http://schemas.microsoft.com/office/powerpoint/2010/main" val="1782520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306B0-E9F7-9DEB-8A69-5A0F8B332DB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2CCBEE6-8C5F-742E-E62B-65568BBA782F}"/>
              </a:ext>
            </a:extLst>
          </p:cNvPr>
          <p:cNvSpPr>
            <a:spLocks noGrp="1"/>
          </p:cNvSpPr>
          <p:nvPr>
            <p:ph idx="1"/>
          </p:nvPr>
        </p:nvSpPr>
        <p:spPr>
          <a:xfrm>
            <a:off x="1295401" y="2556932"/>
            <a:ext cx="8737832" cy="3114026"/>
          </a:xfrm>
        </p:spPr>
        <p:txBody>
          <a:bodyPr/>
          <a:lstStyle/>
          <a:p>
            <a:pPr marL="0" indent="0">
              <a:buNone/>
            </a:pPr>
            <a:r>
              <a:rPr lang="en-US" dirty="0"/>
              <a:t> </a:t>
            </a:r>
            <a:r>
              <a:rPr lang="en-US" dirty="0">
                <a:latin typeface="Times New Roman" panose="02020603050405020304" pitchFamily="18" charset="0"/>
                <a:cs typeface="Times New Roman" panose="02020603050405020304" pitchFamily="18" charset="0"/>
              </a:rPr>
              <a:t>TripNest is a Java Full Stack web application designed to streamline and simplify the process of planning, managing, and booking travel experiences. The system provides users with an integrated digital platform to explore destinations, create personalized itineraries, book accommodations or packages, and manage their travel plans efficiently.</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600565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92C3A-EB8F-4C02-D825-D2DFDED8622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BFBB6725-5E48-2F86-0F8C-F74DEF6078EC}"/>
              </a:ext>
            </a:extLst>
          </p:cNvPr>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In today’s digital age, many travel planning and booking processes are still handled through disconnected platforms or manual coordination, leading to inefficiency and user dissatisfaction. Travelers and travel agencies struggle to manage bookings, itineraries, and destination information in a centralized and organized manner. Without an integrated system, users face delays, errors, and difficulties in accessing accurate and updated travel data.</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Some of the key challenges faced by travelers and travel administrators include</a:t>
            </a:r>
            <a:r>
              <a:rPr lang="en-US" dirty="0"/>
              <a:t>:</a:t>
            </a:r>
            <a:endParaRPr lang="en-IN" dirty="0"/>
          </a:p>
          <a:p>
            <a:r>
              <a:rPr lang="en-US" sz="1800" b="1" dirty="0">
                <a:latin typeface="Times New Roman" panose="02020603050405020304" pitchFamily="18" charset="0"/>
                <a:cs typeface="Times New Roman" panose="02020603050405020304" pitchFamily="18" charset="0"/>
              </a:rPr>
              <a:t>1. Trip Planning and Coordination</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2.Data Management and Accuracy</a:t>
            </a:r>
          </a:p>
          <a:p>
            <a:r>
              <a:rPr lang="en-US" sz="1800" b="1" dirty="0">
                <a:latin typeface="Times New Roman" panose="02020603050405020304" pitchFamily="18" charset="0"/>
                <a:cs typeface="Times New Roman" panose="02020603050405020304" pitchFamily="18" charset="0"/>
              </a:rPr>
              <a:t>3. User Experience and Accessibility</a:t>
            </a:r>
            <a:endParaRPr lang="en-IN"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1611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C0AD-C72D-C03A-4CE8-733AA4DF9ECD}"/>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MODULES OF THE SYSTEM</a:t>
            </a:r>
          </a:p>
        </p:txBody>
      </p:sp>
      <p:sp>
        <p:nvSpPr>
          <p:cNvPr id="3" name="Content Placeholder 2">
            <a:extLst>
              <a:ext uri="{FF2B5EF4-FFF2-40B4-BE49-F238E27FC236}">
                <a16:creationId xmlns:a16="http://schemas.microsoft.com/office/drawing/2014/main" id="{CD00677C-0668-D16C-77B5-1813C229D1E3}"/>
              </a:ext>
            </a:extLst>
          </p:cNvPr>
          <p:cNvSpPr>
            <a:spLocks noGrp="1"/>
          </p:cNvSpPr>
          <p:nvPr>
            <p:ph idx="1"/>
          </p:nvPr>
        </p:nvSpPr>
        <p:spPr/>
        <p:txBody>
          <a:bodyPr/>
          <a:lstStyle/>
          <a:p>
            <a:r>
              <a:rPr lang="en-US" sz="1800" b="1" dirty="0">
                <a:latin typeface="Times New Roman" panose="02020603050405020304" pitchFamily="18" charset="0"/>
                <a:cs typeface="Times New Roman" panose="02020603050405020304" pitchFamily="18" charset="0"/>
              </a:rPr>
              <a:t>1. Customer Module</a:t>
            </a:r>
          </a:p>
          <a:p>
            <a:pPr marL="0" indent="0">
              <a:buNone/>
            </a:pPr>
            <a:r>
              <a:rPr lang="en-US" sz="1800" dirty="0">
                <a:latin typeface="Times New Roman" panose="02020603050405020304" pitchFamily="18" charset="0"/>
                <a:cs typeface="Times New Roman" panose="02020603050405020304" pitchFamily="18" charset="0"/>
              </a:rPr>
              <a:t>The Customer Module serves as the primary interface for users who wish to book rides through the TripNest platform.</a:t>
            </a:r>
          </a:p>
          <a:p>
            <a:r>
              <a:rPr lang="en-US" sz="1800" b="1" dirty="0"/>
              <a:t>2. Driver Module</a:t>
            </a:r>
          </a:p>
          <a:p>
            <a:pPr marL="0" indent="0">
              <a:buNone/>
            </a:pPr>
            <a:r>
              <a:rPr lang="en-US" sz="1800" dirty="0"/>
              <a:t>The Driver Module focuses on managing the activities and profiles of registered drivers within the    TripNest system</a:t>
            </a:r>
          </a:p>
          <a:p>
            <a:r>
              <a:rPr lang="en-US" sz="1800" b="1" dirty="0"/>
              <a:t>3. Admin Module</a:t>
            </a:r>
          </a:p>
          <a:p>
            <a:pPr marL="0" indent="0">
              <a:buNone/>
            </a:pPr>
            <a:r>
              <a:rPr lang="en-US" sz="1800" dirty="0"/>
              <a:t>The Admin Module represents system administrators who manage the overall operations, monitor user activities, and ensure the platform’s integrity.</a:t>
            </a:r>
          </a:p>
          <a:p>
            <a:pPr marL="0" indent="0">
              <a:buNone/>
            </a:pPr>
            <a:endParaRPr lang="en-US"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3056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C5109B-DF0B-4E91-B76E-35D48FA1182F}"/>
              </a:ext>
            </a:extLst>
          </p:cNvPr>
          <p:cNvSpPr txBox="1"/>
          <p:nvPr/>
        </p:nvSpPr>
        <p:spPr>
          <a:xfrm>
            <a:off x="1031846" y="855677"/>
            <a:ext cx="8716161" cy="923330"/>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4. Booking Management Module</a:t>
            </a:r>
          </a:p>
          <a:p>
            <a:pPr>
              <a:buNone/>
            </a:pPr>
            <a:r>
              <a:rPr lang="en-US" dirty="0">
                <a:latin typeface="Times New Roman" panose="02020603050405020304" pitchFamily="18" charset="0"/>
                <a:cs typeface="Times New Roman" panose="02020603050405020304" pitchFamily="18" charset="0"/>
              </a:rPr>
              <a:t>The Booking Management Module is the operational backbone of TripNest, managing all trip-related operations from request to completion.</a:t>
            </a:r>
          </a:p>
        </p:txBody>
      </p:sp>
      <p:sp>
        <p:nvSpPr>
          <p:cNvPr id="5" name="TextBox 4">
            <a:extLst>
              <a:ext uri="{FF2B5EF4-FFF2-40B4-BE49-F238E27FC236}">
                <a16:creationId xmlns:a16="http://schemas.microsoft.com/office/drawing/2014/main" id="{77B4BF54-7B48-A5A7-F612-A296BDE78BEF}"/>
              </a:ext>
            </a:extLst>
          </p:cNvPr>
          <p:cNvSpPr txBox="1"/>
          <p:nvPr/>
        </p:nvSpPr>
        <p:spPr>
          <a:xfrm>
            <a:off x="1031846" y="1963025"/>
            <a:ext cx="8124737" cy="923330"/>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5. Authentication Module</a:t>
            </a:r>
          </a:p>
          <a:p>
            <a:pPr>
              <a:buNone/>
            </a:pPr>
            <a:r>
              <a:rPr lang="en-US" dirty="0">
                <a:latin typeface="Times New Roman" panose="02020603050405020304" pitchFamily="18" charset="0"/>
                <a:cs typeface="Times New Roman" panose="02020603050405020304" pitchFamily="18" charset="0"/>
              </a:rPr>
              <a:t>The Authentication Module provides secure login and registration functionality for all users — customers, drivers, and admins</a:t>
            </a:r>
            <a:r>
              <a:rPr lang="en-US" dirty="0"/>
              <a:t>.</a:t>
            </a:r>
          </a:p>
        </p:txBody>
      </p:sp>
      <p:sp>
        <p:nvSpPr>
          <p:cNvPr id="7" name="TextBox 6">
            <a:extLst>
              <a:ext uri="{FF2B5EF4-FFF2-40B4-BE49-F238E27FC236}">
                <a16:creationId xmlns:a16="http://schemas.microsoft.com/office/drawing/2014/main" id="{1220BD44-90ED-990E-924D-C5ACC4CE75DE}"/>
              </a:ext>
            </a:extLst>
          </p:cNvPr>
          <p:cNvSpPr txBox="1"/>
          <p:nvPr/>
        </p:nvSpPr>
        <p:spPr>
          <a:xfrm>
            <a:off x="931178" y="2886355"/>
            <a:ext cx="8066014" cy="1497948"/>
          </a:xfrm>
          <a:prstGeom prst="rect">
            <a:avLst/>
          </a:prstGeom>
          <a:noFill/>
        </p:spPr>
        <p:txBody>
          <a:bodyPr wrap="square">
            <a:spAutoFit/>
          </a:bodyPr>
          <a:lstStyle/>
          <a:p>
            <a:pPr>
              <a:buNone/>
            </a:pPr>
            <a:r>
              <a:rPr lang="en-US" b="1" dirty="0"/>
              <a:t>6. Dashboard &amp; Analytics Module</a:t>
            </a:r>
          </a:p>
          <a:p>
            <a:pPr>
              <a:buNone/>
            </a:pPr>
            <a:r>
              <a:rPr lang="en-US" dirty="0">
                <a:latin typeface="Times New Roman" panose="02020603050405020304" pitchFamily="18" charset="0"/>
                <a:cs typeface="Times New Roman" panose="02020603050405020304" pitchFamily="18" charset="0"/>
              </a:rPr>
              <a:t>The Dashboard Module offers visual insights and statistical overviews for administrators and managers.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provides real-time metrics such as number of trips, active users, earnings, and system performance, helping in data-driven decision-making</a:t>
            </a:r>
            <a:r>
              <a:rPr lang="en-US" dirty="0"/>
              <a:t>.</a:t>
            </a:r>
          </a:p>
        </p:txBody>
      </p:sp>
      <p:sp>
        <p:nvSpPr>
          <p:cNvPr id="9" name="TextBox 8">
            <a:extLst>
              <a:ext uri="{FF2B5EF4-FFF2-40B4-BE49-F238E27FC236}">
                <a16:creationId xmlns:a16="http://schemas.microsoft.com/office/drawing/2014/main" id="{9E2EEF70-B38E-D43A-C003-CEB4AAA4A743}"/>
              </a:ext>
            </a:extLst>
          </p:cNvPr>
          <p:cNvSpPr txBox="1"/>
          <p:nvPr/>
        </p:nvSpPr>
        <p:spPr>
          <a:xfrm rot="10800000" flipV="1">
            <a:off x="1031844" y="4400093"/>
            <a:ext cx="8124738" cy="923330"/>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7. Payment Module</a:t>
            </a:r>
          </a:p>
          <a:p>
            <a:pPr>
              <a:buNone/>
            </a:pPr>
            <a:r>
              <a:rPr lang="en-US" dirty="0">
                <a:latin typeface="Times New Roman" panose="02020603050405020304" pitchFamily="18" charset="0"/>
                <a:cs typeface="Times New Roman" panose="02020603050405020304" pitchFamily="18" charset="0"/>
              </a:rPr>
              <a:t>The Payment Module ensures seamless and secure financial transactions between customers, drivers, and the platform.</a:t>
            </a:r>
          </a:p>
        </p:txBody>
      </p:sp>
    </p:spTree>
    <p:extLst>
      <p:ext uri="{BB962C8B-B14F-4D97-AF65-F5344CB8AC3E}">
        <p14:creationId xmlns:p14="http://schemas.microsoft.com/office/powerpoint/2010/main" val="2053458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64356-1145-8766-01E8-F2A5C48785A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TECHNOLOGIES USED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C79F8E-44D8-67D6-6677-519C6060B714}"/>
              </a:ext>
            </a:extLst>
          </p:cNvPr>
          <p:cNvSpPr>
            <a:spLocks noGrp="1"/>
          </p:cNvSpPr>
          <p:nvPr>
            <p:ph idx="1"/>
          </p:nvPr>
        </p:nvSpPr>
        <p:spPr/>
        <p:txBody>
          <a:bodyPr/>
          <a:lstStyle/>
          <a:p>
            <a:pPr marL="342900" indent="-3429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Frontend: HTML, CSS, JavaScript     </a:t>
            </a:r>
          </a:p>
          <a:p>
            <a:pPr marL="342900" indent="-3429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Backend: Java(Spring Boot/Maven)</a:t>
            </a:r>
          </a:p>
          <a:p>
            <a:pPr marL="342900" indent="-3429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Database: MYSQL Workbench</a:t>
            </a:r>
          </a:p>
          <a:p>
            <a:pPr marL="342900" indent="-3429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Tools: Eclipse/ VS code</a:t>
            </a:r>
          </a:p>
          <a:p>
            <a:pPr marL="342900" indent="-342900">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Architecture: MVC pattern with CURD operations</a:t>
            </a:r>
            <a:endParaRPr lang="en-IN" sz="1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07497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C7F1-B889-C58E-E230-287BB7D203D3}"/>
              </a:ext>
            </a:extLst>
          </p:cNvPr>
          <p:cNvSpPr>
            <a:spLocks noGrp="1"/>
          </p:cNvSpPr>
          <p:nvPr>
            <p:ph type="title"/>
          </p:nvPr>
        </p:nvSpPr>
        <p:spPr/>
        <p:txBody>
          <a:bodyPr>
            <a:noAutofit/>
          </a:bodyPr>
          <a:lstStyle/>
          <a:p>
            <a:r>
              <a:rPr lang="en-US" b="1" dirty="0">
                <a:latin typeface="Times New Roman" panose="02020603050405020304" pitchFamily="18" charset="0"/>
                <a:cs typeface="Times New Roman" panose="02020603050405020304" pitchFamily="18" charset="0"/>
              </a:rPr>
              <a:t>BENEFITS ,FUTURE SCOPE &amp; DEMO SUMMARY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321F0C-EB7B-E98F-A7B4-1ED799DF2539}"/>
              </a:ext>
            </a:extLst>
          </p:cNvPr>
          <p:cNvSpPr>
            <a:spLocks noGrp="1"/>
          </p:cNvSpPr>
          <p:nvPr>
            <p:ph idx="1"/>
          </p:nvPr>
        </p:nvSpPr>
        <p:spPr/>
        <p:txBody>
          <a:bodyPr>
            <a:normAutofit fontScale="55000" lnSpcReduction="20000"/>
          </a:bodyPr>
          <a:lstStyle/>
          <a:p>
            <a:pPr marL="0" indent="0">
              <a:buNone/>
            </a:pPr>
            <a:r>
              <a:rPr lang="en-US" sz="2500" b="1" dirty="0">
                <a:latin typeface="Times New Roman" panose="02020603050405020304" pitchFamily="18" charset="0"/>
                <a:cs typeface="Times New Roman" panose="02020603050405020304" pitchFamily="18" charset="0"/>
              </a:rPr>
              <a:t>Key Benefits:</a:t>
            </a:r>
            <a:endParaRPr lang="en-US" sz="2500" dirty="0">
              <a:latin typeface="Times New Roman" panose="02020603050405020304" pitchFamily="18" charset="0"/>
              <a:cs typeface="Times New Roman" panose="02020603050405020304" pitchFamily="18" charset="0"/>
            </a:endParaRPr>
          </a:p>
          <a:p>
            <a:r>
              <a:rPr lang="en-US" sz="2500" b="1" dirty="0">
                <a:latin typeface="Times New Roman" panose="02020603050405020304" pitchFamily="18" charset="0"/>
                <a:cs typeface="Times New Roman" panose="02020603050405020304" pitchFamily="18" charset="0"/>
              </a:rPr>
              <a:t>User Convenience:</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Customers can easily book rides anytime, anywhere through a few clicks, with instant fare estimation and cab availability.</a:t>
            </a:r>
          </a:p>
          <a:p>
            <a:r>
              <a:rPr lang="en-US" sz="2500" b="1" dirty="0">
                <a:latin typeface="Times New Roman" panose="02020603050405020304" pitchFamily="18" charset="0"/>
                <a:cs typeface="Times New Roman" panose="02020603050405020304" pitchFamily="18" charset="0"/>
              </a:rPr>
              <a:t>Efficient Ride Management:</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Automated trip allocation ensures faster response times and optimal resource utilization.</a:t>
            </a:r>
          </a:p>
          <a:p>
            <a:r>
              <a:rPr lang="en-US" sz="2500" b="1" dirty="0">
                <a:latin typeface="Times New Roman" panose="02020603050405020304" pitchFamily="18" charset="0"/>
                <a:cs typeface="Times New Roman" panose="02020603050405020304" pitchFamily="18" charset="0"/>
              </a:rPr>
              <a:t>Transparency and Security:</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Digital receipts, real-time tracking, and secure payments build user trust and system reliability.</a:t>
            </a:r>
          </a:p>
          <a:p>
            <a:r>
              <a:rPr lang="en-US" sz="2500" b="1" dirty="0">
                <a:latin typeface="Times New Roman" panose="02020603050405020304" pitchFamily="18" charset="0"/>
                <a:cs typeface="Times New Roman" panose="02020603050405020304" pitchFamily="18" charset="0"/>
              </a:rPr>
              <a:t>Data-Driven Insights:</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Admin dashboards help monitor operations, analyze trends, and make informed decisions.</a:t>
            </a:r>
          </a:p>
          <a:p>
            <a:r>
              <a:rPr lang="en-US" sz="2500" b="1" dirty="0">
                <a:latin typeface="Times New Roman" panose="02020603050405020304" pitchFamily="18" charset="0"/>
                <a:cs typeface="Times New Roman" panose="02020603050405020304" pitchFamily="18" charset="0"/>
              </a:rPr>
              <a:t>Improved Driver Utilization:</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Drivers receive ride requests based on proximity, ensuring fair distribution and increased earnings.</a:t>
            </a:r>
          </a:p>
          <a:p>
            <a:r>
              <a:rPr lang="en-US" sz="2500" b="1" dirty="0">
                <a:latin typeface="Times New Roman" panose="02020603050405020304" pitchFamily="18" charset="0"/>
                <a:cs typeface="Times New Roman" panose="02020603050405020304" pitchFamily="18" charset="0"/>
              </a:rPr>
              <a:t>Reduced Operational Overheads:</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Automation of booking, payments, and reporting reduces manual workload and administrative costs.</a:t>
            </a:r>
          </a:p>
          <a:p>
            <a:endParaRPr lang="en-IN" dirty="0"/>
          </a:p>
        </p:txBody>
      </p:sp>
    </p:spTree>
    <p:extLst>
      <p:ext uri="{BB962C8B-B14F-4D97-AF65-F5344CB8AC3E}">
        <p14:creationId xmlns:p14="http://schemas.microsoft.com/office/powerpoint/2010/main" val="2680895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B19DFD-67E1-CFFC-A757-59A65A3A6A8A}"/>
              </a:ext>
            </a:extLst>
          </p:cNvPr>
          <p:cNvSpPr txBox="1"/>
          <p:nvPr/>
        </p:nvSpPr>
        <p:spPr>
          <a:xfrm>
            <a:off x="906010" y="780176"/>
            <a:ext cx="10368793" cy="3416320"/>
          </a:xfrm>
          <a:prstGeom prst="rect">
            <a:avLst/>
          </a:prstGeom>
          <a:noFill/>
        </p:spPr>
        <p:txBody>
          <a:bodyPr wrap="square">
            <a:spAutoFit/>
          </a:bodyPr>
          <a:lstStyle/>
          <a:p>
            <a:pPr>
              <a:buNone/>
            </a:pPr>
            <a:r>
              <a:rPr lang="en-US" b="1" dirty="0"/>
              <a:t>Future Scope</a:t>
            </a:r>
          </a:p>
          <a:p>
            <a:pPr>
              <a:buNone/>
            </a:pPr>
            <a:r>
              <a:rPr lang="en-US" dirty="0"/>
              <a:t>The </a:t>
            </a:r>
            <a:r>
              <a:rPr lang="en-US" b="1" dirty="0"/>
              <a:t>TripNest</a:t>
            </a:r>
            <a:r>
              <a:rPr lang="en-US" dirty="0"/>
              <a:t> system can be expanded and enhanced to incorporate advanced technologies and features that make transportation smarter, safer, and more sustainable.</a:t>
            </a:r>
          </a:p>
          <a:p>
            <a:pPr>
              <a:buNone/>
            </a:pPr>
            <a:r>
              <a:rPr lang="en-US" b="1" dirty="0"/>
              <a:t>Potential Future Enhancements:</a:t>
            </a:r>
            <a:endParaRPr lang="en-US" dirty="0"/>
          </a:p>
          <a:p>
            <a:pPr>
              <a:buFont typeface="+mj-lt"/>
              <a:buAutoNum type="arabicPeriod"/>
            </a:pPr>
            <a:r>
              <a:rPr lang="en-US" b="1" dirty="0"/>
              <a:t>AI-based Fare Prediction:</a:t>
            </a:r>
            <a:br>
              <a:rPr lang="en-US" dirty="0"/>
            </a:br>
            <a:r>
              <a:rPr lang="en-US" dirty="0"/>
              <a:t>Implement machine learning algorithms to dynamically adjust fares based on demand, distance, and traffic.</a:t>
            </a:r>
          </a:p>
          <a:p>
            <a:pPr>
              <a:buFont typeface="+mj-lt"/>
              <a:buAutoNum type="arabicPeriod"/>
            </a:pPr>
            <a:r>
              <a:rPr lang="en-US" b="1" dirty="0"/>
              <a:t>Smart Route Optimization:</a:t>
            </a:r>
            <a:br>
              <a:rPr lang="en-US" dirty="0"/>
            </a:br>
            <a:r>
              <a:rPr lang="en-US" dirty="0"/>
              <a:t>Integration with AI and GPS APIs to find the fastest and most fuel-efficient routes.</a:t>
            </a:r>
          </a:p>
          <a:p>
            <a:pPr>
              <a:buFont typeface="+mj-lt"/>
              <a:buAutoNum type="arabicPeriod"/>
            </a:pPr>
            <a:r>
              <a:rPr lang="en-US" b="1" dirty="0"/>
              <a:t>Ride Sharing and Pooling:</a:t>
            </a:r>
            <a:br>
              <a:rPr lang="en-US" dirty="0"/>
            </a:br>
            <a:r>
              <a:rPr lang="en-US" dirty="0"/>
              <a:t>Allow multiple passengers traveling in the same direction to share rides, reducing costs and emissions.</a:t>
            </a:r>
          </a:p>
          <a:p>
            <a:pPr>
              <a:buFont typeface="+mj-lt"/>
              <a:buAutoNum type="arabicPeriod"/>
            </a:pPr>
            <a:r>
              <a:rPr lang="en-US" b="1" dirty="0"/>
              <a:t>In-App Chat and SOS Features:</a:t>
            </a:r>
            <a:br>
              <a:rPr lang="en-US" dirty="0"/>
            </a:br>
            <a:r>
              <a:rPr lang="en-US" dirty="0"/>
              <a:t>Enable real-time communication between drivers and passengers, along with emergency safety options.</a:t>
            </a:r>
          </a:p>
        </p:txBody>
      </p:sp>
      <p:sp>
        <p:nvSpPr>
          <p:cNvPr id="5" name="TextBox 4">
            <a:extLst>
              <a:ext uri="{FF2B5EF4-FFF2-40B4-BE49-F238E27FC236}">
                <a16:creationId xmlns:a16="http://schemas.microsoft.com/office/drawing/2014/main" id="{1419FF63-1402-D5BF-0783-C9BBB2B82915}"/>
              </a:ext>
            </a:extLst>
          </p:cNvPr>
          <p:cNvSpPr txBox="1"/>
          <p:nvPr/>
        </p:nvSpPr>
        <p:spPr>
          <a:xfrm rot="10800000" flipV="1">
            <a:off x="1023457" y="4321627"/>
            <a:ext cx="9588616" cy="1200329"/>
          </a:xfrm>
          <a:prstGeom prst="rect">
            <a:avLst/>
          </a:prstGeom>
          <a:noFill/>
        </p:spPr>
        <p:txBody>
          <a:bodyPr wrap="square">
            <a:spAutoFit/>
          </a:bodyPr>
          <a:lstStyle/>
          <a:p>
            <a:pPr>
              <a:buNone/>
            </a:pPr>
            <a:r>
              <a:rPr lang="en-US" b="1" dirty="0"/>
              <a:t>Demo Summary</a:t>
            </a:r>
          </a:p>
          <a:p>
            <a:pPr>
              <a:buNone/>
            </a:pPr>
            <a:r>
              <a:rPr lang="en-US" dirty="0"/>
              <a:t>The </a:t>
            </a:r>
            <a:r>
              <a:rPr lang="en-US" b="1" dirty="0"/>
              <a:t>TripNest Demo</a:t>
            </a:r>
            <a:r>
              <a:rPr lang="en-US" dirty="0"/>
              <a:t> showcases the complete functionality of the system from login to trip completion.</a:t>
            </a:r>
            <a:br>
              <a:rPr lang="en-US" dirty="0"/>
            </a:br>
            <a:r>
              <a:rPr lang="en-US" dirty="0"/>
              <a:t>It provides a clear view of how each user interacts within the platform and how data flows between modules.</a:t>
            </a:r>
          </a:p>
        </p:txBody>
      </p:sp>
    </p:spTree>
    <p:extLst>
      <p:ext uri="{BB962C8B-B14F-4D97-AF65-F5344CB8AC3E}">
        <p14:creationId xmlns:p14="http://schemas.microsoft.com/office/powerpoint/2010/main" val="3767177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11A74B-1415-AC08-E54B-0C7CFB0B7181}"/>
              </a:ext>
            </a:extLst>
          </p:cNvPr>
          <p:cNvPicPr>
            <a:picLocks noChangeAspect="1"/>
          </p:cNvPicPr>
          <p:nvPr/>
        </p:nvPicPr>
        <p:blipFill>
          <a:blip r:embed="rId3"/>
          <a:stretch>
            <a:fillRect/>
          </a:stretch>
        </p:blipFill>
        <p:spPr>
          <a:xfrm>
            <a:off x="2139194" y="1166070"/>
            <a:ext cx="8103764" cy="4724972"/>
          </a:xfrm>
          <a:prstGeom prst="rect">
            <a:avLst/>
          </a:prstGeom>
        </p:spPr>
      </p:pic>
    </p:spTree>
    <p:extLst>
      <p:ext uri="{BB962C8B-B14F-4D97-AF65-F5344CB8AC3E}">
        <p14:creationId xmlns:p14="http://schemas.microsoft.com/office/powerpoint/2010/main" val="4256911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26</TotalTime>
  <Words>683</Words>
  <Application>Microsoft Office PowerPoint</Application>
  <PresentationFormat>Widescreen</PresentationFormat>
  <Paragraphs>50</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Algerian</vt:lpstr>
      <vt:lpstr>Arial</vt:lpstr>
      <vt:lpstr>Calibri</vt:lpstr>
      <vt:lpstr>Garamond</vt:lpstr>
      <vt:lpstr>Times New Roman</vt:lpstr>
      <vt:lpstr>Wingdings</vt:lpstr>
      <vt:lpstr>Organic</vt:lpstr>
      <vt:lpstr>  TRIP NEST</vt:lpstr>
      <vt:lpstr>INTRODUCTION</vt:lpstr>
      <vt:lpstr>PROBLEM STATEMENT</vt:lpstr>
      <vt:lpstr>MODULES OF THE SYSTEM</vt:lpstr>
      <vt:lpstr>PowerPoint Presentation</vt:lpstr>
      <vt:lpstr>TECHNOLOGIES USED</vt:lpstr>
      <vt:lpstr>BENEFITS ,FUTURE SCOPE &amp; DEMO SUMMARY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Yashaswini N M</dc:creator>
  <cp:lastModifiedBy>Yashaswini N M</cp:lastModifiedBy>
  <cp:revision>2</cp:revision>
  <dcterms:created xsi:type="dcterms:W3CDTF">2025-11-13T08:55:03Z</dcterms:created>
  <dcterms:modified xsi:type="dcterms:W3CDTF">2025-11-13T17:34:13Z</dcterms:modified>
</cp:coreProperties>
</file>